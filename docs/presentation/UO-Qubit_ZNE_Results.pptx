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Lato" charset="1" panose="020F0502020204030203"/>
      <p:regular r:id="rId24"/>
    </p:embeddedFont>
    <p:embeddedFont>
      <p:font typeface="Lato Bold" charset="1" panose="020F0502020204030203"/>
      <p:regular r:id="rId25"/>
    </p:embeddedFont>
    <p:embeddedFont>
      <p:font typeface="Arimo" charset="1" panose="020B0604020202020204"/>
      <p:regular r:id="rId29"/>
    </p:embeddedFont>
    <p:embeddedFont>
      <p:font typeface="Arimo Bold" charset="1" panose="020B07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Why a spin chain matters for materials. The previous challenge was titled 'Simulation of Materials for Next-Generation Energy Devices'. Its report frames the TFIM as the canonical testbed for magnetic materials and phase transitions, and the 2D Fermi-Hubbard model as a minimal model of high-temperature superconductors (cuprates), tied to SDG 7 (power grids), SDG 12 and SDG 13 (battery materials, CO2-capture catalysts). Exact diagonalization timings from the report, section 4.4: 0.004 s at N = 4, 17.5 s at N = 12, not executable beyond. The report is explicit that this is an argument for quantum simulation, not a demonstration of quantum advantage; we say the same.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Sources: previous report sections 3.6, 4.2, 4.5, 4.9 and Limitations (4): 'Results use 200-500 shots' (one adiabatic sweep used 2000). Their TFIM runs were on H2-1LE ('exact emulation, sampling noise only') and H2-Emulator (published noise model), not on the physical H2.</a:t>
            </a:r>
          </a:p>
          <a:p>
            <a:r>
              <a:rPr lang="en-US"/>
              <a:t>Iceberg [[k+2,k,2]]: 2 extra code qubits + 2 syndrome ancillas. Discards 17.2-41.5% (minimal checks) and 46.8-94.5% (every half-step). At 94.5% discard only 5.5% of shots survive, so 1/0.055 = 18x shots for the same statistics.</a:t>
            </a:r>
          </a:p>
          <a:p>
            <a:r>
              <a:rPr lang="en-US"/>
              <a:t>ZNE cost: the summed fold factor is 1+2+3+4+5 = 15 vs 1+3+5 = 9, so 15/9 = 1.67x the gates per data point. Our run 1 used 1,3,5 like theirs.</a:t>
            </a:r>
          </a:p>
          <a:p>
            <a:r>
              <a:rPr lang="en-US"/>
              <a:t>Our QPU time: 39 s (job db2qm2m8v0ts73c3c1eg, 12 circuits) and 58 s (db2r7us2ljfc73d51kig, 20 circuits), 4000 shots each.</a:t>
            </a:r>
          </a:p>
          <a:p>
            <a:r>
              <a:rPr lang="en-US"/>
              <a:t>Caveat: their quench went to T = 20 at dt = 0.025; ours stops at t = 2 at dt = 0.1, so circuit depths are not directly comparable.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circuit we actually ran. Each Trotter step is half an X rotation, the ZZ couplings in two parallel layers (a 12-ring is even, so 2 colours suffice), then the other half of the X rotation. Neighbouring half-steps merge, which saves a layer per step. The ZZ rotations are the expensive part: 2 CZ each on Heron, so 24 CZ per step and 480 at t = 2. For ZNE we fold exactly those CZ gates.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Context only, not our main result. The Iceberg code detects errors instead of correcting them: any single fault flips a check, and that shot is thrown away. On trapped ions (all-to-all connectivity) it worked very well. On IBM heavy-hex each check needs an ancilla talking to every data qubit, which the chip cannot do natively. The SWAPs needed add faults the distance-2 code can miss, and the previous project already saw discard rates up to 95%. That's why we put the hardware budget into ZNE, and Eli's iceberg.py studies the Iceberg cost in simulation.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Each noise source gets a matching tool. TREX handles readout, dynamical decoupling handles idle qubits, and twirling turns coherent errors into random Pauli errors. The last step matters most: it makes the noise act like a fixed shrink factor per gate, which is why the signal decays exponentially with the fold factor lambda. What's left is CZ noise, the dominant term at 0.18% per gate, and that's what ZNE removes. At t = 2 that's roughly one error per shot at lambda = 1 and four at lambda = 5. Calibration numbers are medians from ibm_quebec when we submitted.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Headline. Mean |estimate - exact| over Mz, Mx, Mzz and t = 0.5, 1.0, 1.5, 2.0 (12 points per run), N = 12 ring on ibm_quebec.</a:t>
            </a:r>
          </a:p>
          <a:p>
            <a:r>
              <a:rPr lang="en-US"/>
              <a:t>Runs: h/J=1 run 1 (lambda 1,3,5; job db2qm2m8v0ts73c3c1eg), h/J=1 run 2 (lambda 1-5; job db2r7us2ljfc73d51kig), h/J=2 (lambda 1-5; job db2rctc7f06c73aqdi10).</a:t>
            </a:r>
          </a:p>
          <a:p>
            <a:r>
              <a:rPr lang="en-US"/>
              <a:t>Raw 0.142 / 0.145 / 0.114. Linear 0.105 / 0.118 / 0.095. Exponential (free asymptote) 0.033 / 0.029 / 0.030. Reduction raw -&gt; exponential: 4.4x / 5.0x / 3.8x.</a:t>
            </a:r>
          </a:p>
          <a:p>
            <a:r>
              <a:rPr lang="en-US"/>
              <a:t>Full figure: results/figs/zne_summary.png in the repo. Source data: results/zne_time_sweep_ibm_*.json. Methods: Temme et al. PRL 2017 (ZNE), Endo et al. PRX 2018 (exponential extrapolation).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Headline. Mean |estimate - exact| over Mz, Mx, Mzz and t = 0.5, 1.0, 1.5, 2.0 (12 points per run), N = 12 ring on ibm_quebec.</a:t>
            </a:r>
          </a:p>
          <a:p>
            <a:r>
              <a:rPr lang="en-US"/>
              <a:t>Runs: h/J=1 run 1 (lambda 1,3,5; job db2qm2m8v0ts73c3c1eg), h/J=1 run 2 (lambda 1-5; job db2r7us2ljfc73d51kig), h/J=2 (lambda 1-5; job db2rctc7f06c73aqdi10).</a:t>
            </a:r>
          </a:p>
          <a:p>
            <a:r>
              <a:rPr lang="en-US"/>
              <a:t>Raw 0.142 / 0.145 / 0.114. Linear 0.105 / 0.118 / 0.095. Exponential (free asymptote) 0.033 / 0.029 / 0.030. Reduction raw -&gt; exponential: 4.4x / 5.0x / 3.8x.</a:t>
            </a:r>
          </a:p>
          <a:p>
            <a:r>
              <a:rPr lang="en-US"/>
              <a:t>Full figure: results/figs/zne_summary.png in the repo. Source data: results/zne_time_sweep_ibm_*.json. Methods: Temme et al. PRL 2017 (ZNE), Endo et al. PRX 2018 (exponential extrapolation).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Bars: mean error over Mz, Mx, Mzz at h/J = 1, run 2 (lambda 1-5).</a:t>
            </a:r>
          </a:p>
          <a:p>
            <a:r>
              <a:rPr lang="en-US"/>
              <a:t>Linear ZNE: 0.034, 0.097, 0.146, 0.195 at t = 0.5, 1.0, 1.5, 2.0. Exponential ZNE: 0.021, 0.027, 0.042, 0.025.</a:t>
            </a:r>
          </a:p>
          <a:p>
            <a:r>
              <a:rPr lang="en-US"/>
              <a:t>At h/J = 2: linear 0.022, 0.073, 0.129, 0.156; exponential 0.017, 0.005, 0.060, 0.037.</a:t>
            </a:r>
          </a:p>
          <a:p>
            <a:r>
              <a:rPr lang="en-US"/>
              <a:t>Example at t = 2, h/J = 1: Mz 0.517 +/- 0.027 vs exact 0.500. The lambda = 5 circuit at t = 2 has 2400 two-qubit gates.</a:t>
            </a:r>
          </a:p>
          <a:p>
            <a:r>
              <a:rPr lang="en-US"/>
              <a:t>The previous report said its linear ZNE 'begins to overcorrect after t = 1.5'.</a:t>
            </a:r>
          </a:p>
          <a:p>
            <a:r>
              <a:rPr lang="en-US"/>
              <a:t>With error bars: results/figs/zne_summary_vs_time.png in the repo.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Run 1 vs run 2 (same circuits at lambda 1, 3, 5): raw values differ by 0.002-0.016, at most 4.1 sigma; mean errors 0.033 vs 0.029.</a:t>
            </a:r>
          </a:p>
          <a:p>
            <a:r>
              <a:rPr lang="en-US"/>
              <a:t>2. chi2 per degree of freedom &lt;= 2.7 at 19 of 24 points (Mz, Mx, Mzz x 4 times x 2 fields). Failures: h/J=1 t=0.5 (Mz, Mzz), h/J=2 t=1.0 (Mz, Mzz), h/J=2 t=1.5 (Mz). Mx passes everywhere.</a:t>
            </a:r>
          </a:p>
          <a:p>
            <a:r>
              <a:rPr lang="en-US"/>
              <a:t>3. Noiseless 2nd-order Trotter vs exact at h/J = 2: at most 0.011. Exponential ZNE vs noiseless Trotter: 0.030-0.032, so the residual is hardware noise.</a:t>
            </a:r>
          </a:p>
          <a:p>
            <a:r>
              <a:rPr lang="en-US"/>
              <a:t>Linear ZNE never lands above exact (0 of 36 points), the signature of systematic under-correction.</a:t>
            </a:r>
          </a:p>
          <a:p>
            <a:r>
              <a:rPr lang="en-US"/>
              <a:t>Details: docs/RESULTS.md sections 3-4.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452105" y="-5752419"/>
            <a:ext cx="6942365" cy="8264720"/>
          </a:xfrm>
          <a:custGeom>
            <a:avLst/>
            <a:gdLst/>
            <a:ahLst/>
            <a:cxnLst/>
            <a:rect r="r" b="b" t="t" l="l"/>
            <a:pathLst>
              <a:path h="8264720" w="6942365">
                <a:moveTo>
                  <a:pt x="6942365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5" y="0"/>
                </a:lnTo>
                <a:lnTo>
                  <a:pt x="6942365" y="82647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14938" y="-6754570"/>
            <a:ext cx="7783270" cy="7783270"/>
          </a:xfrm>
          <a:custGeom>
            <a:avLst/>
            <a:gdLst/>
            <a:ahLst/>
            <a:cxnLst/>
            <a:rect r="r" b="b" t="t" l="l"/>
            <a:pathLst>
              <a:path h="7783270" w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800000">
            <a:off x="-1434465" y="7936076"/>
            <a:ext cx="6942365" cy="8264720"/>
          </a:xfrm>
          <a:custGeom>
            <a:avLst/>
            <a:gdLst/>
            <a:ahLst/>
            <a:cxnLst/>
            <a:rect r="r" b="b" t="t" l="l"/>
            <a:pathLst>
              <a:path h="8264720" w="6942365">
                <a:moveTo>
                  <a:pt x="6942364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4" y="0"/>
                </a:lnTo>
                <a:lnTo>
                  <a:pt x="6942364" y="82647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938203" y="9419677"/>
            <a:ext cx="7783270" cy="7783270"/>
          </a:xfrm>
          <a:custGeom>
            <a:avLst/>
            <a:gdLst/>
            <a:ahLst/>
            <a:cxnLst/>
            <a:rect r="r" b="b" t="t" l="l"/>
            <a:pathLst>
              <a:path h="7783270" w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965137" y="8412436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2281014" y="-2716014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99093" y="5819564"/>
            <a:ext cx="10289814" cy="36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5"/>
              </a:lnSpc>
            </a:pPr>
            <a:r>
              <a:rPr lang="en-US" sz="2925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🇨🇷 </a:t>
            </a:r>
            <a:r>
              <a:rPr lang="en-US" sz="2925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David Granados: Team Leader &amp; Physics lead</a:t>
            </a:r>
          </a:p>
          <a:p>
            <a:pPr algn="ctr" marL="0" indent="0" lvl="0">
              <a:lnSpc>
                <a:spcPts val="4095"/>
              </a:lnSpc>
            </a:pPr>
            <a:r>
              <a:rPr lang="en-US" sz="2925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🇲🇦 Boutaina El Hourri: Hardware lead</a:t>
            </a:r>
          </a:p>
          <a:p>
            <a:pPr algn="ctr" marL="0" indent="0" lvl="0">
              <a:lnSpc>
                <a:spcPts val="4095"/>
              </a:lnSpc>
            </a:pPr>
            <a:r>
              <a:rPr lang="en-US" sz="2925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🇱🇧 </a:t>
            </a:r>
            <a:r>
              <a:rPr lang="en-US" sz="2925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Toufic Haddad: Noise models and Plots</a:t>
            </a:r>
          </a:p>
          <a:p>
            <a:pPr algn="ctr" marL="0" indent="0" lvl="0">
              <a:lnSpc>
                <a:spcPts val="4095"/>
              </a:lnSpc>
            </a:pPr>
            <a:r>
              <a:rPr lang="en-US" sz="2925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🇨🇦 Eli Levasseur: Iceberg Circuit Simulation</a:t>
            </a:r>
          </a:p>
          <a:p>
            <a:pPr algn="ctr" marL="0" indent="0" lvl="0">
              <a:lnSpc>
                <a:spcPts val="4095"/>
              </a:lnSpc>
            </a:pPr>
            <a:r>
              <a:rPr lang="en-US" sz="2925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🇲🇺 Harshini Gungah: Classical baseline &amp; Numerics</a:t>
            </a:r>
          </a:p>
          <a:p>
            <a:pPr algn="ctr" marL="0" indent="0" lvl="0">
              <a:lnSpc>
                <a:spcPts val="4095"/>
              </a:lnSpc>
            </a:pPr>
          </a:p>
          <a:p>
            <a:pPr algn="ctr" marL="0" indent="0" lvl="0">
              <a:lnSpc>
                <a:spcPts val="4095"/>
              </a:lnSpc>
            </a:pPr>
            <a:r>
              <a:rPr lang="en-US" b="true" sz="2925">
                <a:solidFill>
                  <a:srgbClr val="1E344C"/>
                </a:solidFill>
                <a:latin typeface="Lato Bold"/>
                <a:ea typeface="Lato Bold"/>
                <a:cs typeface="Lato Bold"/>
                <a:sym typeface="Lato Bold"/>
              </a:rPr>
              <a:t> uOttawa Qiskit Fall Fest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524" y="1810207"/>
            <a:ext cx="16368952" cy="318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15"/>
              </a:lnSpc>
            </a:pPr>
            <a:r>
              <a:rPr lang="en-US" sz="7699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Expo</a:t>
            </a:r>
            <a:r>
              <a:rPr lang="en-US" sz="7699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nential zero-noise extrapolation for quantum materials simulation on IBM hardware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69288" y="576622"/>
            <a:ext cx="11749424" cy="107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35"/>
              </a:lnSpc>
            </a:pPr>
            <a:r>
              <a:rPr lang="en-US" b="true" sz="6310">
                <a:solidFill>
                  <a:srgbClr val="1E344C"/>
                </a:solidFill>
                <a:latin typeface="Lato Bold"/>
                <a:ea typeface="Lato Bold"/>
                <a:cs typeface="Lato Bold"/>
                <a:sym typeface="Lato Bold"/>
              </a:rPr>
              <a:t>T</a:t>
            </a:r>
            <a:r>
              <a:rPr lang="en-US" b="true" sz="6310">
                <a:solidFill>
                  <a:srgbClr val="1E344C"/>
                </a:solidFill>
                <a:latin typeface="Lato Bold"/>
                <a:ea typeface="Lato Bold"/>
                <a:cs typeface="Lato Bold"/>
                <a:sym typeface="Lato Bold"/>
              </a:rPr>
              <a:t>eam UO-Qubit: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6350" y="695325"/>
            <a:ext cx="15735300" cy="8896350"/>
            <a:chOff x="0" y="0"/>
            <a:chExt cx="20980400" cy="1186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80400" cy="11861800"/>
            </a:xfrm>
            <a:custGeom>
              <a:avLst/>
              <a:gdLst/>
              <a:ahLst/>
              <a:cxnLst/>
              <a:rect r="r" b="b" t="t" l="l"/>
              <a:pathLst>
                <a:path h="11861800" w="20980400">
                  <a:moveTo>
                    <a:pt x="1143000" y="0"/>
                  </a:moveTo>
                  <a:lnTo>
                    <a:pt x="19837400" y="0"/>
                  </a:lnTo>
                  <a:cubicBezTo>
                    <a:pt x="20468662" y="0"/>
                    <a:pt x="20980400" y="511739"/>
                    <a:pt x="20980400" y="1143000"/>
                  </a:cubicBezTo>
                  <a:lnTo>
                    <a:pt x="20980400" y="10718800"/>
                  </a:lnTo>
                  <a:cubicBezTo>
                    <a:pt x="20980400" y="11350061"/>
                    <a:pt x="20468662" y="11861800"/>
                    <a:pt x="19837400" y="11861800"/>
                  </a:cubicBezTo>
                  <a:lnTo>
                    <a:pt x="1143000" y="11861800"/>
                  </a:lnTo>
                  <a:cubicBezTo>
                    <a:pt x="511739" y="11861800"/>
                    <a:pt x="0" y="11350061"/>
                    <a:pt x="0" y="10718800"/>
                  </a:cubicBezTo>
                  <a:lnTo>
                    <a:pt x="0" y="1143000"/>
                  </a:ln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6B95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980400" cy="1189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4475" y="1028700"/>
            <a:ext cx="15249525" cy="8229600"/>
            <a:chOff x="0" y="0"/>
            <a:chExt cx="203327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327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20332700">
                  <a:moveTo>
                    <a:pt x="1016000" y="0"/>
                  </a:moveTo>
                  <a:lnTo>
                    <a:pt x="19316700" y="0"/>
                  </a:lnTo>
                  <a:cubicBezTo>
                    <a:pt x="19877821" y="0"/>
                    <a:pt x="20332700" y="454879"/>
                    <a:pt x="20332700" y="1016000"/>
                  </a:cubicBezTo>
                  <a:lnTo>
                    <a:pt x="20332700" y="9956800"/>
                  </a:lnTo>
                  <a:cubicBezTo>
                    <a:pt x="20332700" y="10517922"/>
                    <a:pt x="19877821" y="10972800"/>
                    <a:pt x="19316700" y="10972800"/>
                  </a:cubicBezTo>
                  <a:lnTo>
                    <a:pt x="1016000" y="10972800"/>
                  </a:lnTo>
                  <a:cubicBezTo>
                    <a:pt x="454879" y="10972800"/>
                    <a:pt x="0" y="10517922"/>
                    <a:pt x="0" y="9956800"/>
                  </a:cubicBezTo>
                  <a:lnTo>
                    <a:pt x="0" y="1016000"/>
                  </a:ln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32700" cy="1101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76500" y="1647825"/>
            <a:ext cx="1333500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Why This Matters for Materials Science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2914650"/>
            <a:ext cx="13525500" cy="445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Better energy materials (superconductors for efficient power grids, battery materials, CO₂-capture catalysts) all need the same thing: predicting how many interacting spins and electrons behave. That is the goal behind "Simulation of Materials for Next-Generation Energy Devices", the challenge we build on [1].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The transverse-field Ising model is the canonical testbed for magnetic materials. Neighbouring spins want to align (ferromagnetic order); the transverse field adds quantum fluctuations that destroy that order. The competition produces a quantum phase transition at h/J = 1 [1, 10].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We run both regimes: h/J = 1 (the critical point) and h/J = 2 (the disordered phase), and follow how the magnet responds after a sudden change of field (a quench).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The classical wall: exact diagonalization took 0.004 s at 4 spins and 17.5 s at 12, and was no longer feasible beyond that [1]. Quantum circuits are the way past it, but only if their noise is controlled.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The previous project applied the same workflow to the 2D Fermi–Hubbard model, a minimal model of high-temperature superconductors (SDG 7: clean energy) [1]. Reliable error mitigation on real hardware is the step those simulations need next.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1216077" y="3371115"/>
            <a:ext cx="4644510" cy="4796850"/>
            <a:chOff x="0" y="0"/>
            <a:chExt cx="6350000" cy="6558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6"/>
              <a:stretch>
                <a:fillRect l="0" t="-720" r="0" b="-72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1E344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573900" y="3432568"/>
            <a:ext cx="8145095" cy="5242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49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We built on Quantathon CR 2026 (Challenge 3), which simulated magnetic materials on Quantinuum's H2 emulators (H2-1LE and H2-Emulator). Its documented weak spots:</a:t>
            </a:r>
          </a:p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49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Linear zero-noise extrapolation began to overcorrect after t ≈ 1.5</a:t>
            </a:r>
          </a:p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49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Trotter error reached 8.46 at h/J = 2 (time step 0.05)</a:t>
            </a:r>
          </a:p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49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Iceberg error detection discarded up to 95% of shots (17–42% with minimal checks)</a:t>
            </a:r>
          </a:p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49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No error bars on mitigated results; typos in its exact reference table (we corrected them)</a:t>
            </a:r>
          </a:p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49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Goal: fix these on IBM hardware.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95533" y="2103457"/>
            <a:ext cx="7496935" cy="85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73"/>
              </a:lnSpc>
            </a:pPr>
            <a:r>
              <a:rPr lang="en-US" sz="6819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Where We Started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6350" y="695325"/>
            <a:ext cx="15735300" cy="8896350"/>
            <a:chOff x="0" y="0"/>
            <a:chExt cx="20980400" cy="1186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80400" cy="11861800"/>
            </a:xfrm>
            <a:custGeom>
              <a:avLst/>
              <a:gdLst/>
              <a:ahLst/>
              <a:cxnLst/>
              <a:rect r="r" b="b" t="t" l="l"/>
              <a:pathLst>
                <a:path h="11861800" w="20980400">
                  <a:moveTo>
                    <a:pt x="1143000" y="0"/>
                  </a:moveTo>
                  <a:lnTo>
                    <a:pt x="19837400" y="0"/>
                  </a:lnTo>
                  <a:cubicBezTo>
                    <a:pt x="20468662" y="0"/>
                    <a:pt x="20980400" y="511739"/>
                    <a:pt x="20980400" y="1143000"/>
                  </a:cubicBezTo>
                  <a:lnTo>
                    <a:pt x="20980400" y="10718800"/>
                  </a:lnTo>
                  <a:cubicBezTo>
                    <a:pt x="20980400" y="11350061"/>
                    <a:pt x="20468662" y="11861800"/>
                    <a:pt x="19837400" y="11861800"/>
                  </a:cubicBezTo>
                  <a:lnTo>
                    <a:pt x="1143000" y="11861800"/>
                  </a:lnTo>
                  <a:cubicBezTo>
                    <a:pt x="511739" y="11861800"/>
                    <a:pt x="0" y="11350061"/>
                    <a:pt x="0" y="10718800"/>
                  </a:cubicBezTo>
                  <a:lnTo>
                    <a:pt x="0" y="1143000"/>
                  </a:ln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6B95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980400" cy="1189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4475" y="1028700"/>
            <a:ext cx="15249525" cy="8229600"/>
            <a:chOff x="0" y="0"/>
            <a:chExt cx="203327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327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20332700">
                  <a:moveTo>
                    <a:pt x="1016000" y="0"/>
                  </a:moveTo>
                  <a:lnTo>
                    <a:pt x="19316700" y="0"/>
                  </a:lnTo>
                  <a:cubicBezTo>
                    <a:pt x="19877821" y="0"/>
                    <a:pt x="20332700" y="454879"/>
                    <a:pt x="20332700" y="1016000"/>
                  </a:cubicBezTo>
                  <a:lnTo>
                    <a:pt x="20332700" y="9956800"/>
                  </a:lnTo>
                  <a:cubicBezTo>
                    <a:pt x="20332700" y="10517922"/>
                    <a:pt x="19877821" y="10972800"/>
                    <a:pt x="19316700" y="10972800"/>
                  </a:cubicBezTo>
                  <a:lnTo>
                    <a:pt x="1016000" y="10972800"/>
                  </a:lnTo>
                  <a:cubicBezTo>
                    <a:pt x="454879" y="10972800"/>
                    <a:pt x="0" y="10517922"/>
                    <a:pt x="0" y="9956800"/>
                  </a:cubicBezTo>
                  <a:lnTo>
                    <a:pt x="0" y="1016000"/>
                  </a:ln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32700" cy="1101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76500" y="1514475"/>
            <a:ext cx="133350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Our Plan Costs More Shots, Wastes None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8375" y="3771900"/>
            <a:ext cx="13811250" cy="571500"/>
            <a:chOff x="0" y="0"/>
            <a:chExt cx="18415000" cy="76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41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8415000">
                  <a:moveTo>
                    <a:pt x="0" y="0"/>
                  </a:moveTo>
                  <a:lnTo>
                    <a:pt x="18415000" y="0"/>
                  </a:lnTo>
                  <a:lnTo>
                    <a:pt x="1841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41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38375" y="4953000"/>
            <a:ext cx="13811250" cy="571500"/>
            <a:chOff x="0" y="0"/>
            <a:chExt cx="18415000" cy="76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1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8415000">
                  <a:moveTo>
                    <a:pt x="0" y="0"/>
                  </a:moveTo>
                  <a:lnTo>
                    <a:pt x="18415000" y="0"/>
                  </a:lnTo>
                  <a:lnTo>
                    <a:pt x="1841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41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38375" y="6134100"/>
            <a:ext cx="13811250" cy="571500"/>
            <a:chOff x="0" y="0"/>
            <a:chExt cx="18415000" cy="76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41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8415000">
                  <a:moveTo>
                    <a:pt x="0" y="0"/>
                  </a:moveTo>
                  <a:lnTo>
                    <a:pt x="18415000" y="0"/>
                  </a:lnTo>
                  <a:lnTo>
                    <a:pt x="1841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41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38375" y="3124200"/>
            <a:ext cx="13811250" cy="28575"/>
            <a:chOff x="0" y="0"/>
            <a:chExt cx="184150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415000" cy="38100"/>
            </a:xfrm>
            <a:custGeom>
              <a:avLst/>
              <a:gdLst/>
              <a:ahLst/>
              <a:cxnLst/>
              <a:rect r="r" b="b" t="t" l="l"/>
              <a:pathLst>
                <a:path h="38100" w="18415000">
                  <a:moveTo>
                    <a:pt x="0" y="0"/>
                  </a:moveTo>
                  <a:lnTo>
                    <a:pt x="18415000" y="0"/>
                  </a:lnTo>
                  <a:lnTo>
                    <a:pt x="18415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344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415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381250" y="2705100"/>
            <a:ext cx="3048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Resource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19750" y="2705100"/>
            <a:ext cx="4953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EB6834"/>
                </a:solidFill>
                <a:latin typeface="Arimo Bold"/>
                <a:ea typeface="Arimo Bold"/>
                <a:cs typeface="Arimo Bold"/>
                <a:sym typeface="Arimo Bold"/>
              </a:rPr>
              <a:t>Previous project [1]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63250" y="2705100"/>
            <a:ext cx="51435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2A78D6"/>
                </a:solidFill>
                <a:latin typeface="Arimo Bold"/>
                <a:ea typeface="Arimo Bold"/>
                <a:cs typeface="Arimo Bold"/>
                <a:sym typeface="Arimo Bold"/>
              </a:rPr>
              <a:t>This work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81250" y="3190875"/>
            <a:ext cx="3048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Where it ran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19750" y="3190875"/>
            <a:ext cx="495300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Quantinuum H2 emulators (H2-1LE noiseless, H2-Emulator noisy)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63250" y="3190875"/>
            <a:ext cx="51435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Real IBM quantum computer (ibm_quebec)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81250" y="3781425"/>
            <a:ext cx="3048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Qubits (TFIM)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19750" y="3781425"/>
            <a:ext cx="4953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6–8, plus 4 for Iceberg (2 code + 2 ancilla)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63250" y="3781425"/>
            <a:ext cx="51435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12, no extra qubits (1.5–2× more)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81250" y="4371975"/>
            <a:ext cx="3048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ZNE noise levels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19750" y="4371975"/>
            <a:ext cx="4953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3 (λ = 1, 3, 5)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63250" y="4371975"/>
            <a:ext cx="51435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5 (λ = 1–5): 1.7× the total gates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81250" y="4962525"/>
            <a:ext cx="3048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Shots per circuit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619750" y="4962525"/>
            <a:ext cx="4953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200–500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63250" y="4962525"/>
            <a:ext cx="51435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4000 (8–20× more)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81250" y="5553075"/>
            <a:ext cx="3048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Shots discarded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19750" y="5553075"/>
            <a:ext cx="4953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17–95% with Iceberg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63250" y="5553075"/>
            <a:ext cx="51435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None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81250" y="6143625"/>
            <a:ext cx="3048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Quantum time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619750" y="6143625"/>
            <a:ext cx="4953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Emulator runs (time not reported)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63250" y="6143625"/>
            <a:ext cx="51435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39–58 s of QPU per full time sweep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81250" y="6734175"/>
            <a:ext cx="3048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Classical cost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619750" y="6734175"/>
            <a:ext cx="495300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Noisy emulation (cost grows exponentially with qubits) + exact reference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763250" y="6734175"/>
            <a:ext cx="51435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Exact reference at 12 spins + curve fits (seconds)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81250" y="7572375"/>
            <a:ext cx="13525500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Net: more quantum resources per experiment (1.5–2× the qubits, 1.7× the gates, 8–20× the shots), but no shot is thrown away, each sweep takes about a minute of real QPU time, and no noisy emulation is needed. At Iceberg's 95% discard rate, matching our statistics would take ~18× more shots.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3092550" y="4172580"/>
            <a:ext cx="3746415" cy="3869298"/>
            <a:chOff x="0" y="0"/>
            <a:chExt cx="6350000" cy="6558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6"/>
              <a:stretch>
                <a:fillRect l="0" t="-720" r="0" b="-72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BCC8D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096250" y="4000500"/>
            <a:ext cx="7153275" cy="857250"/>
            <a:chOff x="0" y="0"/>
            <a:chExt cx="9537700" cy="114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377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9537700">
                  <a:moveTo>
                    <a:pt x="228600" y="0"/>
                  </a:moveTo>
                  <a:lnTo>
                    <a:pt x="9309100" y="0"/>
                  </a:lnTo>
                  <a:cubicBezTo>
                    <a:pt x="9435352" y="0"/>
                    <a:pt x="9537700" y="102348"/>
                    <a:pt x="9537700" y="228600"/>
                  </a:cubicBezTo>
                  <a:lnTo>
                    <a:pt x="9537700" y="914400"/>
                  </a:lnTo>
                  <a:cubicBezTo>
                    <a:pt x="9537700" y="1040652"/>
                    <a:pt x="9435352" y="1143000"/>
                    <a:pt x="9309100" y="1143000"/>
                  </a:cubicBezTo>
                  <a:lnTo>
                    <a:pt x="228600" y="1143000"/>
                  </a:lnTo>
                  <a:cubicBezTo>
                    <a:pt x="102348" y="1143000"/>
                    <a:pt x="0" y="1040652"/>
                    <a:pt x="0" y="914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5377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367778" y="4000500"/>
            <a:ext cx="4621041" cy="860669"/>
          </a:xfrm>
          <a:custGeom>
            <a:avLst/>
            <a:gdLst/>
            <a:ahLst/>
            <a:cxnLst/>
            <a:rect r="r" b="b" t="t" l="l"/>
            <a:pathLst>
              <a:path h="860669" w="4621041">
                <a:moveTo>
                  <a:pt x="0" y="0"/>
                </a:moveTo>
                <a:lnTo>
                  <a:pt x="4621041" y="0"/>
                </a:lnTo>
                <a:lnTo>
                  <a:pt x="4621041" y="860669"/>
                </a:lnTo>
                <a:lnTo>
                  <a:pt x="0" y="8606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766857" y="5121513"/>
            <a:ext cx="7822884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The transverse-field Ising model above is a canonical model of a quantum phase transition.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12 spins on a periodic ring, h/J = 1 and 2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Start all spins up, evolve to t = 0.5–2.0 with a 2nd-order Trotter circuit (time step 0.1)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Measure Mz, Mx and Mzz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Exact diagonalization on a laptop is the answer key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12658" y="2145477"/>
            <a:ext cx="11662683" cy="6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8"/>
              </a:lnSpc>
            </a:pPr>
            <a:r>
              <a:rPr lang="en-US" sz="5486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The Physics: A 12-Spin Magnetic 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6350" y="695325"/>
            <a:ext cx="15735300" cy="8896350"/>
            <a:chOff x="0" y="0"/>
            <a:chExt cx="20980400" cy="1186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80400" cy="11861800"/>
            </a:xfrm>
            <a:custGeom>
              <a:avLst/>
              <a:gdLst/>
              <a:ahLst/>
              <a:cxnLst/>
              <a:rect r="r" b="b" t="t" l="l"/>
              <a:pathLst>
                <a:path h="11861800" w="20980400">
                  <a:moveTo>
                    <a:pt x="1143000" y="0"/>
                  </a:moveTo>
                  <a:lnTo>
                    <a:pt x="19837400" y="0"/>
                  </a:lnTo>
                  <a:cubicBezTo>
                    <a:pt x="20468662" y="0"/>
                    <a:pt x="20980400" y="511739"/>
                    <a:pt x="20980400" y="1143000"/>
                  </a:cubicBezTo>
                  <a:lnTo>
                    <a:pt x="20980400" y="10718800"/>
                  </a:lnTo>
                  <a:cubicBezTo>
                    <a:pt x="20980400" y="11350061"/>
                    <a:pt x="20468662" y="11861800"/>
                    <a:pt x="19837400" y="11861800"/>
                  </a:cubicBezTo>
                  <a:lnTo>
                    <a:pt x="1143000" y="11861800"/>
                  </a:lnTo>
                  <a:cubicBezTo>
                    <a:pt x="511739" y="11861800"/>
                    <a:pt x="0" y="11350061"/>
                    <a:pt x="0" y="10718800"/>
                  </a:cubicBezTo>
                  <a:lnTo>
                    <a:pt x="0" y="1143000"/>
                  </a:ln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6B95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980400" cy="1189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4475" y="1028700"/>
            <a:ext cx="15249525" cy="8229600"/>
            <a:chOff x="0" y="0"/>
            <a:chExt cx="203327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327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20332700">
                  <a:moveTo>
                    <a:pt x="1016000" y="0"/>
                  </a:moveTo>
                  <a:lnTo>
                    <a:pt x="19316700" y="0"/>
                  </a:lnTo>
                  <a:cubicBezTo>
                    <a:pt x="19877821" y="0"/>
                    <a:pt x="20332700" y="454879"/>
                    <a:pt x="20332700" y="1016000"/>
                  </a:cubicBezTo>
                  <a:lnTo>
                    <a:pt x="20332700" y="9956800"/>
                  </a:lnTo>
                  <a:cubicBezTo>
                    <a:pt x="20332700" y="10517922"/>
                    <a:pt x="19877821" y="10972800"/>
                    <a:pt x="19316700" y="10972800"/>
                  </a:cubicBezTo>
                  <a:lnTo>
                    <a:pt x="1016000" y="10972800"/>
                  </a:lnTo>
                  <a:cubicBezTo>
                    <a:pt x="454879" y="10972800"/>
                    <a:pt x="0" y="10517922"/>
                    <a:pt x="0" y="9956800"/>
                  </a:cubicBezTo>
                  <a:lnTo>
                    <a:pt x="0" y="1016000"/>
                  </a:ln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32700" cy="1101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96500" y="4743450"/>
            <a:ext cx="5715000" cy="28575"/>
            <a:chOff x="0" y="0"/>
            <a:chExt cx="7620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344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96500" y="5600700"/>
            <a:ext cx="5715000" cy="28575"/>
            <a:chOff x="0" y="0"/>
            <a:chExt cx="76200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344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2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96500" y="6457950"/>
            <a:ext cx="5715000" cy="28575"/>
            <a:chOff x="0" y="0"/>
            <a:chExt cx="76200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344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62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96500" y="7315200"/>
            <a:ext cx="5715000" cy="28575"/>
            <a:chOff x="0" y="0"/>
            <a:chExt cx="7620000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344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2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382250" y="4495800"/>
            <a:ext cx="857250" cy="533400"/>
            <a:chOff x="0" y="0"/>
            <a:chExt cx="11430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3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43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382250" y="5353050"/>
            <a:ext cx="857250" cy="533400"/>
            <a:chOff x="0" y="0"/>
            <a:chExt cx="11430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43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43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82250" y="6210300"/>
            <a:ext cx="857250" cy="533400"/>
            <a:chOff x="0" y="0"/>
            <a:chExt cx="11430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43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382250" y="7067550"/>
            <a:ext cx="857250" cy="533400"/>
            <a:chOff x="0" y="0"/>
            <a:chExt cx="11430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43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143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15750" y="4495800"/>
            <a:ext cx="762000" cy="1390650"/>
            <a:chOff x="0" y="0"/>
            <a:chExt cx="1016000" cy="1854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6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1BAF7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16000" cy="189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715750" y="6210300"/>
            <a:ext cx="762000" cy="1390650"/>
            <a:chOff x="0" y="0"/>
            <a:chExt cx="1016000" cy="1854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6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1BAF7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16000" cy="189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954000" y="5353050"/>
            <a:ext cx="762000" cy="1390650"/>
            <a:chOff x="0" y="0"/>
            <a:chExt cx="1016000" cy="1854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6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1BAF7A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6000" cy="189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92250" y="4495800"/>
            <a:ext cx="857250" cy="533400"/>
            <a:chOff x="0" y="0"/>
            <a:chExt cx="1143000" cy="711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43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143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192250" y="5353050"/>
            <a:ext cx="857250" cy="533400"/>
            <a:chOff x="0" y="0"/>
            <a:chExt cx="1143000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3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143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192250" y="6210300"/>
            <a:ext cx="857250" cy="533400"/>
            <a:chOff x="0" y="0"/>
            <a:chExt cx="1143000" cy="711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43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143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192250" y="7067550"/>
            <a:ext cx="857250" cy="533400"/>
            <a:chOff x="0" y="0"/>
            <a:chExt cx="1143000" cy="711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43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143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81250" y="7067550"/>
            <a:ext cx="6953250" cy="800100"/>
            <a:chOff x="0" y="0"/>
            <a:chExt cx="9271000" cy="1066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271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9271000">
                  <a:moveTo>
                    <a:pt x="228600" y="0"/>
                  </a:moveTo>
                  <a:lnTo>
                    <a:pt x="9042400" y="0"/>
                  </a:lnTo>
                  <a:cubicBezTo>
                    <a:pt x="9168652" y="0"/>
                    <a:pt x="9271000" y="102348"/>
                    <a:pt x="9271000" y="228600"/>
                  </a:cubicBezTo>
                  <a:lnTo>
                    <a:pt x="9271000" y="838200"/>
                  </a:lnTo>
                  <a:cubicBezTo>
                    <a:pt x="9271000" y="964452"/>
                    <a:pt x="9168652" y="1066800"/>
                    <a:pt x="9042400" y="1066800"/>
                  </a:cubicBezTo>
                  <a:lnTo>
                    <a:pt x="228600" y="1066800"/>
                  </a:lnTo>
                  <a:cubicBezTo>
                    <a:pt x="102348" y="1066800"/>
                    <a:pt x="0" y="964452"/>
                    <a:pt x="0" y="8382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2710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3662019" y="7111274"/>
            <a:ext cx="4391712" cy="712651"/>
          </a:xfrm>
          <a:custGeom>
            <a:avLst/>
            <a:gdLst/>
            <a:ahLst/>
            <a:cxnLst/>
            <a:rect r="r" b="b" t="t" l="l"/>
            <a:pathLst>
              <a:path h="712651" w="4391712">
                <a:moveTo>
                  <a:pt x="0" y="0"/>
                </a:moveTo>
                <a:lnTo>
                  <a:pt x="4391712" y="0"/>
                </a:lnTo>
                <a:lnTo>
                  <a:pt x="4391712" y="712652"/>
                </a:lnTo>
                <a:lnTo>
                  <a:pt x="0" y="712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2476500" y="1647825"/>
            <a:ext cx="1333500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The Circuit: Second-Order Trotter Steps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381250" y="3105150"/>
            <a:ext cx="6953250" cy="377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Each time step (Δt = 0.1) is one second-order Trotter step: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Rx(hΔt/2) on every qubit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ZZ rotations on the 12 ring bonds, in 2 parallel layers (even bonds, then odd bonds)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Rx(hΔt/2) again, fused with the next step's: r + 1 Rx layers instead of 2r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On IBM Heron each ZZ rotation is 2 CZ gates: 24 CZ per step, so t = 2 (20 steps) is 480 CZ at depth ~400.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Start in |0…0⟩; IBM's Estimator measures Mz, Mzz (Z basis) and Mx (X basis).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For ZNE every CZ is folded (same operation, more noise):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096500" y="3943350"/>
            <a:ext cx="142875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A78D6"/>
                </a:solidFill>
                <a:latin typeface="Arimo Bold"/>
                <a:ea typeface="Arimo Bold"/>
                <a:cs typeface="Arimo Bold"/>
                <a:sym typeface="Arimo Bold"/>
              </a:rPr>
              <a:t>Rx(hΔt/2)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525250" y="3943350"/>
            <a:ext cx="1143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4825B"/>
                </a:solidFill>
                <a:latin typeface="Arimo Bold"/>
                <a:ea typeface="Arimo Bold"/>
                <a:cs typeface="Arimo Bold"/>
                <a:sym typeface="Arimo Bold"/>
              </a:rPr>
              <a:t>ZZ even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763500" y="3943350"/>
            <a:ext cx="1143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4825B"/>
                </a:solidFill>
                <a:latin typeface="Arimo Bold"/>
                <a:ea typeface="Arimo Bold"/>
                <a:cs typeface="Arimo Bold"/>
                <a:sym typeface="Arimo Bold"/>
              </a:rPr>
              <a:t>ZZ odd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906500" y="3943350"/>
            <a:ext cx="142875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A78D6"/>
                </a:solidFill>
                <a:latin typeface="Arimo Bold"/>
                <a:ea typeface="Arimo Bold"/>
                <a:cs typeface="Arimo Bold"/>
                <a:sym typeface="Arimo Bold"/>
              </a:rPr>
              <a:t>Rx(hΔt/2)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667875" y="4552950"/>
            <a:ext cx="38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q1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667875" y="5410200"/>
            <a:ext cx="38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q2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667875" y="6267450"/>
            <a:ext cx="38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q3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667875" y="7124700"/>
            <a:ext cx="38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q4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620250" y="7810500"/>
            <a:ext cx="628650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52514E"/>
                </a:solidFill>
                <a:latin typeface="Arimo"/>
                <a:ea typeface="Arimo"/>
                <a:cs typeface="Arimo"/>
                <a:sym typeface="Arimo"/>
              </a:rPr>
              <a:t>One Trotter step, 4 of 12 qubits shown (the ring also couples q12–q1). Repeated t/Δt times.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35071" y="5958470"/>
            <a:ext cx="13099617" cy="17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Our layout search enumerates every 12-qubit cycle on the device (21 on ibm_quebec) and picks the one with the lowest gate and readout error. Tested on the same heavy-hex architecture (Marrakesh model), 3 Trotter steps need 72 two-qubit gates on our ring, the theoretical minimum, versus 105 (+46%) with the original greedy layout.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35071" y="3932211"/>
            <a:ext cx="13099617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00"/>
              </a:lnSpc>
            </a:pPr>
            <a:r>
              <a:rPr lang="en-US" sz="2500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IBM heavy-hex chips contain no closed loop shorter than 12 qubits. This means a 12-spin ring is the smallest model that maps natively onto the device topology — requiring zero SWAP gates to implement nearest-neighbour interactions.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92251" y="2032590"/>
            <a:ext cx="10757568" cy="150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74"/>
              </a:lnSpc>
            </a:pPr>
            <a:r>
              <a:rPr lang="en-US" sz="6967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The Ring Fits the Chip With Zero SWAPs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6350" y="695325"/>
            <a:ext cx="15735300" cy="8896350"/>
            <a:chOff x="0" y="0"/>
            <a:chExt cx="20980400" cy="1186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80400" cy="11861800"/>
            </a:xfrm>
            <a:custGeom>
              <a:avLst/>
              <a:gdLst/>
              <a:ahLst/>
              <a:cxnLst/>
              <a:rect r="r" b="b" t="t" l="l"/>
              <a:pathLst>
                <a:path h="11861800" w="20980400">
                  <a:moveTo>
                    <a:pt x="1143000" y="0"/>
                  </a:moveTo>
                  <a:lnTo>
                    <a:pt x="19837400" y="0"/>
                  </a:lnTo>
                  <a:cubicBezTo>
                    <a:pt x="20468662" y="0"/>
                    <a:pt x="20980400" y="511739"/>
                    <a:pt x="20980400" y="1143000"/>
                  </a:cubicBezTo>
                  <a:lnTo>
                    <a:pt x="20980400" y="10718800"/>
                  </a:lnTo>
                  <a:cubicBezTo>
                    <a:pt x="20980400" y="11350061"/>
                    <a:pt x="20468662" y="11861800"/>
                    <a:pt x="19837400" y="11861800"/>
                  </a:cubicBezTo>
                  <a:lnTo>
                    <a:pt x="1143000" y="11861800"/>
                  </a:lnTo>
                  <a:cubicBezTo>
                    <a:pt x="511739" y="11861800"/>
                    <a:pt x="0" y="11350061"/>
                    <a:pt x="0" y="10718800"/>
                  </a:cubicBezTo>
                  <a:lnTo>
                    <a:pt x="0" y="1143000"/>
                  </a:ln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6B95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980400" cy="1189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4475" y="1028700"/>
            <a:ext cx="15249525" cy="8229600"/>
            <a:chOff x="0" y="0"/>
            <a:chExt cx="203327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327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20332700">
                  <a:moveTo>
                    <a:pt x="1016000" y="0"/>
                  </a:moveTo>
                  <a:lnTo>
                    <a:pt x="19316700" y="0"/>
                  </a:lnTo>
                  <a:cubicBezTo>
                    <a:pt x="19877821" y="0"/>
                    <a:pt x="20332700" y="454879"/>
                    <a:pt x="20332700" y="1016000"/>
                  </a:cubicBezTo>
                  <a:lnTo>
                    <a:pt x="20332700" y="9956800"/>
                  </a:lnTo>
                  <a:cubicBezTo>
                    <a:pt x="20332700" y="10517922"/>
                    <a:pt x="19877821" y="10972800"/>
                    <a:pt x="19316700" y="10972800"/>
                  </a:cubicBezTo>
                  <a:lnTo>
                    <a:pt x="1016000" y="10972800"/>
                  </a:lnTo>
                  <a:cubicBezTo>
                    <a:pt x="454879" y="10972800"/>
                    <a:pt x="0" y="10517922"/>
                    <a:pt x="0" y="9956800"/>
                  </a:cubicBezTo>
                  <a:lnTo>
                    <a:pt x="0" y="1016000"/>
                  </a:ln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32700" cy="1101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39500" y="5595938"/>
            <a:ext cx="3619500" cy="47625"/>
            <a:chOff x="0" y="0"/>
            <a:chExt cx="4826000" cy="6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6000" cy="63500"/>
            </a:xfrm>
            <a:custGeom>
              <a:avLst/>
              <a:gdLst/>
              <a:ahLst/>
              <a:cxnLst/>
              <a:rect r="r" b="b" t="t" l="l"/>
              <a:pathLst>
                <a:path h="6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A3A29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6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3600000">
            <a:off x="11239500" y="5595938"/>
            <a:ext cx="3619500" cy="47625"/>
            <a:chOff x="0" y="0"/>
            <a:chExt cx="4826000" cy="63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6000" cy="63500"/>
            </a:xfrm>
            <a:custGeom>
              <a:avLst/>
              <a:gdLst/>
              <a:ahLst/>
              <a:cxnLst/>
              <a:rect r="r" b="b" t="t" l="l"/>
              <a:pathLst>
                <a:path h="6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A3A29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26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3600000">
            <a:off x="11239500" y="5595938"/>
            <a:ext cx="3619500" cy="47625"/>
            <a:chOff x="0" y="0"/>
            <a:chExt cx="4826000" cy="63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6000" cy="63500"/>
            </a:xfrm>
            <a:custGeom>
              <a:avLst/>
              <a:gdLst/>
              <a:ahLst/>
              <a:cxnLst/>
              <a:rect r="r" b="b" t="t" l="l"/>
              <a:pathLst>
                <a:path h="6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A3A29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26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68250" y="5238750"/>
            <a:ext cx="762000" cy="762000"/>
            <a:chOff x="0" y="0"/>
            <a:chExt cx="1016000" cy="101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561" y="0"/>
                    <a:pt x="1016000" y="227439"/>
                    <a:pt x="1016000" y="508000"/>
                  </a:cubicBezTo>
                  <a:cubicBezTo>
                    <a:pt x="1016000" y="788561"/>
                    <a:pt x="788561" y="1016000"/>
                    <a:pt x="508000" y="1016000"/>
                  </a:cubicBezTo>
                  <a:cubicBezTo>
                    <a:pt x="227439" y="1016000"/>
                    <a:pt x="0" y="788561"/>
                    <a:pt x="0" y="508000"/>
                  </a:cubicBez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EB683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25625" y="5286375"/>
            <a:ext cx="666750" cy="666750"/>
            <a:chOff x="0" y="0"/>
            <a:chExt cx="889000" cy="88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20750" y="6853238"/>
            <a:ext cx="666750" cy="666750"/>
            <a:chOff x="0" y="0"/>
            <a:chExt cx="889000" cy="889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11000" y="6853238"/>
            <a:ext cx="666750" cy="666750"/>
            <a:chOff x="0" y="0"/>
            <a:chExt cx="889000" cy="889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06125" y="5286375"/>
            <a:ext cx="666750" cy="666750"/>
            <a:chOff x="0" y="0"/>
            <a:chExt cx="889000" cy="889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11000" y="3719512"/>
            <a:ext cx="666750" cy="666750"/>
            <a:chOff x="0" y="0"/>
            <a:chExt cx="889000" cy="889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620750" y="3719512"/>
            <a:ext cx="666750" cy="666750"/>
            <a:chOff x="0" y="0"/>
            <a:chExt cx="889000" cy="889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381250" y="7524750"/>
            <a:ext cx="7905750" cy="1333500"/>
            <a:chOff x="0" y="0"/>
            <a:chExt cx="10541000" cy="177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4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541000">
                  <a:moveTo>
                    <a:pt x="228600" y="0"/>
                  </a:moveTo>
                  <a:lnTo>
                    <a:pt x="10312400" y="0"/>
                  </a:lnTo>
                  <a:cubicBezTo>
                    <a:pt x="10438652" y="0"/>
                    <a:pt x="10541000" y="102348"/>
                    <a:pt x="10541000" y="228600"/>
                  </a:cubicBezTo>
                  <a:lnTo>
                    <a:pt x="10541000" y="1549400"/>
                  </a:lnTo>
                  <a:cubicBezTo>
                    <a:pt x="10541000" y="1675652"/>
                    <a:pt x="10438652" y="1778000"/>
                    <a:pt x="10312400" y="1778000"/>
                  </a:cubicBezTo>
                  <a:lnTo>
                    <a:pt x="228600" y="1778000"/>
                  </a:lnTo>
                  <a:cubicBezTo>
                    <a:pt x="102348" y="1778000"/>
                    <a:pt x="0" y="1675652"/>
                    <a:pt x="0" y="1549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541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4219013" y="7607281"/>
            <a:ext cx="4420724" cy="574694"/>
          </a:xfrm>
          <a:custGeom>
            <a:avLst/>
            <a:gdLst/>
            <a:ahLst/>
            <a:cxnLst/>
            <a:rect r="r" b="b" t="t" l="l"/>
            <a:pathLst>
              <a:path h="574694" w="4420724">
                <a:moveTo>
                  <a:pt x="0" y="0"/>
                </a:moveTo>
                <a:lnTo>
                  <a:pt x="4420724" y="0"/>
                </a:lnTo>
                <a:lnTo>
                  <a:pt x="4420724" y="574694"/>
                </a:lnTo>
                <a:lnTo>
                  <a:pt x="0" y="574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4219013" y="8191500"/>
            <a:ext cx="4420724" cy="574694"/>
          </a:xfrm>
          <a:custGeom>
            <a:avLst/>
            <a:gdLst/>
            <a:ahLst/>
            <a:cxnLst/>
            <a:rect r="r" b="b" t="t" l="l"/>
            <a:pathLst>
              <a:path h="574694" w="4420724">
                <a:moveTo>
                  <a:pt x="0" y="0"/>
                </a:moveTo>
                <a:lnTo>
                  <a:pt x="4420724" y="0"/>
                </a:lnTo>
                <a:lnTo>
                  <a:pt x="4420724" y="574694"/>
                </a:lnTo>
                <a:lnTo>
                  <a:pt x="0" y="574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2476500" y="1647825"/>
            <a:ext cx="1333500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Context: The Iceberg Code [[k+2, k, 2]]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476500" y="2876074"/>
            <a:ext cx="7905750" cy="41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An error-detection code (Self, Benedetti &amp; Amaro, Nature Physics 2024 [12]):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k logical qubits stored in k + 2 physical qubits (two extra: t and b)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Logical gates (below) make a logical ZZ just ZᵢZⱼ, a natural fit for the TFIM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Two parity checks (below), read out with 2 ancillas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Distance 2: any single error is detected and that shot is discarded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On Quantinuum H1-2: 8 logical qubits, up to 256 layers, logical quantum volume 2⁸ (86.8% of shots discarded)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Why it is not our main path on IBM: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Each check couples every qubit to one ancilla; heavy-hex qubits have at most 3 neighbours, so SWAPs are needed, and SWAP faults can go undetected at distance 2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The previous project discarded 17–42% of shots (minimal checks) up to 95% (checks every half-step)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Our plan: a simulated cost study (iceberg.py, Eli).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68250" y="5419725"/>
            <a:ext cx="762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25625" y="5400675"/>
            <a:ext cx="666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620750" y="6967538"/>
            <a:ext cx="666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811000" y="6967538"/>
            <a:ext cx="666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906125" y="5400675"/>
            <a:ext cx="666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811000" y="3833812"/>
            <a:ext cx="666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620750" y="3833812"/>
            <a:ext cx="666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572750" y="7762875"/>
            <a:ext cx="5143500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52514E"/>
                </a:solidFill>
                <a:latin typeface="Arimo"/>
                <a:ea typeface="Arimo"/>
                <a:cs typeface="Arimo"/>
                <a:sym typeface="Arimo"/>
              </a:rPr>
              <a:t>Reading one check (k = 4): the ancilla couples to all k + 2 data qubits, a star of degree 6. Heavy-hex allows degree 3 at most.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53879" y="5831339"/>
            <a:ext cx="11980242" cy="17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Zero-noise extrapolation: we fold every two-qubit gate to amplify the noise by λ = 1, 2, 3, 4, 5 (up to 2400 two-qubit gates), measure how the result decays, and extrapolate back to λ = 0. We compare a straight-line fit (the previous project's method) with an exponential fit (ours).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53879" y="3835401"/>
            <a:ext cx="11980242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Hardware error suppression (IBM Runtime): TREX readout-error mitigation, Pauli twirling of every two-qubit gate, and dynamical decoupling on idle qubits. 4000 shots per circuit.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65216" y="2074151"/>
            <a:ext cx="10757568" cy="78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</a:pPr>
            <a:r>
              <a:rPr lang="en-US" sz="6779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Our Error-Mitigation Stack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6350" y="695325"/>
            <a:ext cx="15735300" cy="8896350"/>
            <a:chOff x="0" y="0"/>
            <a:chExt cx="20980400" cy="1186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80400" cy="11861800"/>
            </a:xfrm>
            <a:custGeom>
              <a:avLst/>
              <a:gdLst/>
              <a:ahLst/>
              <a:cxnLst/>
              <a:rect r="r" b="b" t="t" l="l"/>
              <a:pathLst>
                <a:path h="11861800" w="20980400">
                  <a:moveTo>
                    <a:pt x="1143000" y="0"/>
                  </a:moveTo>
                  <a:lnTo>
                    <a:pt x="19837400" y="0"/>
                  </a:lnTo>
                  <a:cubicBezTo>
                    <a:pt x="20468662" y="0"/>
                    <a:pt x="20980400" y="511739"/>
                    <a:pt x="20980400" y="1143000"/>
                  </a:cubicBezTo>
                  <a:lnTo>
                    <a:pt x="20980400" y="10718800"/>
                  </a:lnTo>
                  <a:cubicBezTo>
                    <a:pt x="20980400" y="11350061"/>
                    <a:pt x="20468662" y="11861800"/>
                    <a:pt x="19837400" y="11861800"/>
                  </a:cubicBezTo>
                  <a:lnTo>
                    <a:pt x="1143000" y="11861800"/>
                  </a:lnTo>
                  <a:cubicBezTo>
                    <a:pt x="511739" y="11861800"/>
                    <a:pt x="0" y="11350061"/>
                    <a:pt x="0" y="10718800"/>
                  </a:cubicBezTo>
                  <a:lnTo>
                    <a:pt x="0" y="1143000"/>
                  </a:ln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6B95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980400" cy="1189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4475" y="1028700"/>
            <a:ext cx="15249525" cy="8229600"/>
            <a:chOff x="0" y="0"/>
            <a:chExt cx="203327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327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20332700">
                  <a:moveTo>
                    <a:pt x="1016000" y="0"/>
                  </a:moveTo>
                  <a:lnTo>
                    <a:pt x="19316700" y="0"/>
                  </a:lnTo>
                  <a:cubicBezTo>
                    <a:pt x="19877821" y="0"/>
                    <a:pt x="20332700" y="454879"/>
                    <a:pt x="20332700" y="1016000"/>
                  </a:cubicBezTo>
                  <a:lnTo>
                    <a:pt x="20332700" y="9956800"/>
                  </a:lnTo>
                  <a:cubicBezTo>
                    <a:pt x="20332700" y="10517922"/>
                    <a:pt x="19877821" y="10972800"/>
                    <a:pt x="19316700" y="10972800"/>
                  </a:cubicBezTo>
                  <a:lnTo>
                    <a:pt x="1016000" y="10972800"/>
                  </a:lnTo>
                  <a:cubicBezTo>
                    <a:pt x="454879" y="10972800"/>
                    <a:pt x="0" y="10517922"/>
                    <a:pt x="0" y="9956800"/>
                  </a:cubicBezTo>
                  <a:lnTo>
                    <a:pt x="0" y="1016000"/>
                  </a:ln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32700" cy="1101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77500" y="3143250"/>
            <a:ext cx="5334000" cy="1143000"/>
            <a:chOff x="0" y="0"/>
            <a:chExt cx="7112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12000">
                  <a:moveTo>
                    <a:pt x="304800" y="0"/>
                  </a:moveTo>
                  <a:lnTo>
                    <a:pt x="6807200" y="0"/>
                  </a:lnTo>
                  <a:cubicBezTo>
                    <a:pt x="6975536" y="0"/>
                    <a:pt x="7112000" y="136464"/>
                    <a:pt x="7112000" y="304800"/>
                  </a:cubicBezTo>
                  <a:lnTo>
                    <a:pt x="7112000" y="1219200"/>
                  </a:lnTo>
                  <a:cubicBezTo>
                    <a:pt x="7112000" y="1387536"/>
                    <a:pt x="6975536" y="1524000"/>
                    <a:pt x="6807200" y="1524000"/>
                  </a:cubicBezTo>
                  <a:lnTo>
                    <a:pt x="304800" y="1524000"/>
                  </a:lnTo>
                  <a:cubicBezTo>
                    <a:pt x="136464" y="1524000"/>
                    <a:pt x="0" y="1387536"/>
                    <a:pt x="0" y="1219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EAF1F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11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77500" y="4476750"/>
            <a:ext cx="5334000" cy="1143000"/>
            <a:chOff x="0" y="0"/>
            <a:chExt cx="7112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12000">
                  <a:moveTo>
                    <a:pt x="304800" y="0"/>
                  </a:moveTo>
                  <a:lnTo>
                    <a:pt x="6807200" y="0"/>
                  </a:lnTo>
                  <a:cubicBezTo>
                    <a:pt x="6975536" y="0"/>
                    <a:pt x="7112000" y="136464"/>
                    <a:pt x="7112000" y="304800"/>
                  </a:cubicBezTo>
                  <a:lnTo>
                    <a:pt x="7112000" y="1219200"/>
                  </a:lnTo>
                  <a:cubicBezTo>
                    <a:pt x="7112000" y="1387536"/>
                    <a:pt x="6975536" y="1524000"/>
                    <a:pt x="6807200" y="1524000"/>
                  </a:cubicBezTo>
                  <a:lnTo>
                    <a:pt x="304800" y="1524000"/>
                  </a:lnTo>
                  <a:cubicBezTo>
                    <a:pt x="136464" y="1524000"/>
                    <a:pt x="0" y="1387536"/>
                    <a:pt x="0" y="1219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EAF1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11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77500" y="5810250"/>
            <a:ext cx="5334000" cy="1143000"/>
            <a:chOff x="0" y="0"/>
            <a:chExt cx="7112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12000">
                  <a:moveTo>
                    <a:pt x="304800" y="0"/>
                  </a:moveTo>
                  <a:lnTo>
                    <a:pt x="6807200" y="0"/>
                  </a:lnTo>
                  <a:cubicBezTo>
                    <a:pt x="6975536" y="0"/>
                    <a:pt x="7112000" y="136464"/>
                    <a:pt x="7112000" y="304800"/>
                  </a:cubicBezTo>
                  <a:lnTo>
                    <a:pt x="7112000" y="1219200"/>
                  </a:lnTo>
                  <a:cubicBezTo>
                    <a:pt x="7112000" y="1387536"/>
                    <a:pt x="6975536" y="1524000"/>
                    <a:pt x="6807200" y="1524000"/>
                  </a:cubicBezTo>
                  <a:lnTo>
                    <a:pt x="304800" y="1524000"/>
                  </a:lnTo>
                  <a:cubicBezTo>
                    <a:pt x="136464" y="1524000"/>
                    <a:pt x="0" y="1387536"/>
                    <a:pt x="0" y="1219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EAF1F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11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81250" y="7018020"/>
            <a:ext cx="7429500" cy="1285875"/>
            <a:chOff x="0" y="0"/>
            <a:chExt cx="9906000" cy="1714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0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9906000">
                  <a:moveTo>
                    <a:pt x="228600" y="0"/>
                  </a:moveTo>
                  <a:lnTo>
                    <a:pt x="9677400" y="0"/>
                  </a:lnTo>
                  <a:cubicBezTo>
                    <a:pt x="9803652" y="0"/>
                    <a:pt x="9906000" y="102348"/>
                    <a:pt x="9906000" y="228600"/>
                  </a:cubicBezTo>
                  <a:lnTo>
                    <a:pt x="9906000" y="1485900"/>
                  </a:lnTo>
                  <a:cubicBezTo>
                    <a:pt x="9906000" y="1612152"/>
                    <a:pt x="9803652" y="1714500"/>
                    <a:pt x="9677400" y="1714500"/>
                  </a:cubicBezTo>
                  <a:lnTo>
                    <a:pt x="228600" y="1714500"/>
                  </a:lnTo>
                  <a:cubicBezTo>
                    <a:pt x="102348" y="1714500"/>
                    <a:pt x="0" y="1612152"/>
                    <a:pt x="0" y="14859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90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512521" y="7075170"/>
            <a:ext cx="3166958" cy="551059"/>
          </a:xfrm>
          <a:custGeom>
            <a:avLst/>
            <a:gdLst/>
            <a:ahLst/>
            <a:cxnLst/>
            <a:rect r="r" b="b" t="t" l="l"/>
            <a:pathLst>
              <a:path h="551059" w="3166958">
                <a:moveTo>
                  <a:pt x="0" y="0"/>
                </a:moveTo>
                <a:lnTo>
                  <a:pt x="3166958" y="0"/>
                </a:lnTo>
                <a:lnTo>
                  <a:pt x="3166958" y="551059"/>
                </a:lnTo>
                <a:lnTo>
                  <a:pt x="0" y="551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91690" y="7691438"/>
            <a:ext cx="5208619" cy="527373"/>
          </a:xfrm>
          <a:custGeom>
            <a:avLst/>
            <a:gdLst/>
            <a:ahLst/>
            <a:cxnLst/>
            <a:rect r="r" b="b" t="t" l="l"/>
            <a:pathLst>
              <a:path h="527373" w="5208619">
                <a:moveTo>
                  <a:pt x="0" y="0"/>
                </a:moveTo>
                <a:lnTo>
                  <a:pt x="5208620" y="0"/>
                </a:lnTo>
                <a:lnTo>
                  <a:pt x="5208620" y="527372"/>
                </a:lnTo>
                <a:lnTo>
                  <a:pt x="0" y="527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76500" y="1647825"/>
            <a:ext cx="1333500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The Noise: Sources and Countermeasures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81250" y="3086100"/>
            <a:ext cx="7429500" cy="347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Each noise source on ibm_quebec has its own countermeasure:</a:t>
            </a:r>
          </a:p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Readout errors → TREX (twirled readout mitigation)</a:t>
            </a:r>
          </a:p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Idling and decoherence (T1, T2) → XpXm dynamical decoupling</a:t>
            </a:r>
          </a:p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Coherent gate errors → Pauli twirling, which turns them into random Pauli noise</a:t>
            </a:r>
          </a:p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• Remaining CZ noise → ZNE: fold every CZ (λ = 1–5), extrapolate to λ = 0</a:t>
            </a:r>
          </a:p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Simulations use the same idea: Aer density matrix with NoiseModel.from_backend(FakeMarrakesh).</a:t>
            </a:r>
          </a:p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Why exponential? Twirled noise shrinks the signal by a fixed factor per CZ, so each observable decays toward its fully mixed value: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15625" y="3314700"/>
            <a:ext cx="219075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A78D6"/>
                </a:solidFill>
                <a:latin typeface="Arimo Bold"/>
                <a:ea typeface="Arimo Bold"/>
                <a:cs typeface="Arimo Bold"/>
                <a:sym typeface="Arimo Bold"/>
              </a:rPr>
              <a:t>0.019%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54000" y="3390900"/>
            <a:ext cx="26670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single-qubit gate error (median)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15625" y="4648200"/>
            <a:ext cx="219075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A78D6"/>
                </a:solidFill>
                <a:latin typeface="Arimo Bold"/>
                <a:ea typeface="Arimo Bold"/>
                <a:cs typeface="Arimo Bold"/>
                <a:sym typeface="Arimo Bold"/>
              </a:rPr>
              <a:t>0.18%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54000" y="4724400"/>
            <a:ext cx="26670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CZ two-qubit gate error (median)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15625" y="5981700"/>
            <a:ext cx="219075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A78D6"/>
                </a:solidFill>
                <a:latin typeface="Arimo Bold"/>
                <a:ea typeface="Arimo Bold"/>
                <a:cs typeface="Arimo Bold"/>
                <a:sym typeface="Arimo Bold"/>
              </a:rPr>
              <a:t>0.54%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54000" y="6181725"/>
            <a:ext cx="2667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readout error (median)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7500" y="7143750"/>
            <a:ext cx="533400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52514E"/>
                </a:solidFill>
                <a:latin typeface="Arimo"/>
                <a:ea typeface="Arimo"/>
                <a:cs typeface="Arimo"/>
                <a:sym typeface="Arimo"/>
              </a:rPr>
              <a:t>At t = 2 the circuit has 480 CZ: about 0.9 CZ errors per shot at λ = 1 and 4.3 at λ = 5 (2400 CZ). ZNE reads the trend across λ and extrapolates back to zero noise. Calibration: ibm_quebec at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51790" y="4254501"/>
            <a:ext cx="7293757" cy="285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2"/>
              </a:lnSpc>
              <a:spcBef>
                <a:spcPct val="0"/>
              </a:spcBef>
            </a:pPr>
            <a:r>
              <a:rPr lang="en-US" sz="2344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Mean absolute error vs exact diagonalization (Mz, Mx, Mzz at t = 0.5–2.0), averaged over three independent runs on ibm_quebec:</a:t>
            </a:r>
          </a:p>
          <a:p>
            <a:pPr algn="l" marL="0" indent="0" lvl="0">
              <a:lnSpc>
                <a:spcPts val="3282"/>
              </a:lnSpc>
              <a:spcBef>
                <a:spcPct val="0"/>
              </a:spcBef>
            </a:pPr>
            <a:r>
              <a:rPr lang="en-US" sz="2344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Raw 0.134 → linear ZNE 0.106 (−21%) → exponential ZNE 0.030 (−78%)</a:t>
            </a:r>
          </a:p>
          <a:p>
            <a:pPr algn="l" marL="0" indent="0" lvl="0">
              <a:lnSpc>
                <a:spcPts val="3282"/>
              </a:lnSpc>
              <a:spcBef>
                <a:spcPct val="0"/>
              </a:spcBef>
            </a:pPr>
            <a:r>
              <a:rPr lang="en-US" sz="2344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Every run agrees: exponential 0.033 / 0.029 / 0.030, linear 0.105 / 0.118 / 0.095.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98173" y="2099442"/>
            <a:ext cx="7378013" cy="115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3"/>
              </a:lnSpc>
            </a:pPr>
            <a:r>
              <a:rPr lang="en-US" sz="5391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Exponential ZNE Cuts Error 3.8–5× vs. Raw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430000" y="4762500"/>
            <a:ext cx="1143000" cy="2857500"/>
            <a:chOff x="0" y="0"/>
            <a:chExt cx="1524000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52514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24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54000" y="5362575"/>
            <a:ext cx="1143000" cy="2257425"/>
            <a:chOff x="0" y="0"/>
            <a:chExt cx="1524000" cy="3009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0" cy="3009900"/>
            </a:xfrm>
            <a:custGeom>
              <a:avLst/>
              <a:gdLst/>
              <a:ahLst/>
              <a:cxnLst/>
              <a:rect r="r" b="b" t="t" l="l"/>
              <a:pathLst>
                <a:path h="3009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009900"/>
                  </a:lnTo>
                  <a:lnTo>
                    <a:pt x="0" y="3009900"/>
                  </a:lnTo>
                  <a:close/>
                </a:path>
              </a:pathLst>
            </a:custGeom>
            <a:solidFill>
              <a:srgbClr val="EB683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24000" cy="304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478000" y="6981825"/>
            <a:ext cx="1143000" cy="638175"/>
            <a:chOff x="0" y="0"/>
            <a:chExt cx="1524000" cy="8509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0" cy="850900"/>
            </a:xfrm>
            <a:custGeom>
              <a:avLst/>
              <a:gdLst/>
              <a:ahLst/>
              <a:cxnLst/>
              <a:rect r="r" b="b" t="t" l="l"/>
              <a:pathLst>
                <a:path h="850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50900"/>
                  </a:lnTo>
                  <a:lnTo>
                    <a:pt x="0" y="8509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240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239500" y="7620000"/>
            <a:ext cx="4572000" cy="28575"/>
            <a:chOff x="0" y="0"/>
            <a:chExt cx="6096000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6000" cy="38100"/>
            </a:xfrm>
            <a:custGeom>
              <a:avLst/>
              <a:gdLst/>
              <a:ahLst/>
              <a:cxnLst/>
              <a:rect r="r" b="b" t="t" l="l"/>
              <a:pathLst>
                <a:path h="381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344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09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430000" y="4276725"/>
            <a:ext cx="1143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0.134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54000" y="4876800"/>
            <a:ext cx="1143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E344C"/>
                </a:solidFill>
                <a:latin typeface="Arimo Bold"/>
                <a:ea typeface="Arimo Bold"/>
                <a:cs typeface="Arimo Bold"/>
                <a:sym typeface="Arimo Bold"/>
              </a:rPr>
              <a:t>0.106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78000" y="6496050"/>
            <a:ext cx="1143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A78D6"/>
                </a:solidFill>
                <a:latin typeface="Arimo Bold"/>
                <a:ea typeface="Arimo Bold"/>
                <a:cs typeface="Arimo Bold"/>
                <a:sym typeface="Arimo Bold"/>
              </a:rPr>
              <a:t>0.030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87125" y="7677150"/>
            <a:ext cx="14287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Raw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11125" y="7677150"/>
            <a:ext cx="14287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Linear ZNE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35125" y="7677150"/>
            <a:ext cx="1428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Exponential ZNE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44250" y="3752850"/>
            <a:ext cx="4762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2514E"/>
                </a:solidFill>
                <a:latin typeface="Arimo"/>
                <a:ea typeface="Arimo"/>
                <a:cs typeface="Arimo"/>
                <a:sym typeface="Arimo"/>
              </a:rPr>
              <a:t>Mean error vs exact (lower is better)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587627" y="2512301"/>
            <a:ext cx="11112746" cy="6231866"/>
          </a:xfrm>
          <a:custGeom>
            <a:avLst/>
            <a:gdLst/>
            <a:ahLst/>
            <a:cxnLst/>
            <a:rect r="r" b="b" t="t" l="l"/>
            <a:pathLst>
              <a:path h="6231866" w="11112746">
                <a:moveTo>
                  <a:pt x="0" y="0"/>
                </a:moveTo>
                <a:lnTo>
                  <a:pt x="11112746" y="0"/>
                </a:lnTo>
                <a:lnTo>
                  <a:pt x="11112746" y="6231866"/>
                </a:lnTo>
                <a:lnTo>
                  <a:pt x="0" y="62318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4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54994" y="1219200"/>
            <a:ext cx="7378013" cy="115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3"/>
              </a:lnSpc>
            </a:pPr>
            <a:r>
              <a:rPr lang="en-US" sz="5391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5391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ean error vs exact (lower is better)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51790" y="4244976"/>
            <a:ext cx="7293757" cy="284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sz="2698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Mean error over Mz, Mx, Mzz at h/J = 1. Linear ZNE's error grows with time like the raw data, from 0.034 to 0.195. Exponential ZNE stays between 0.021 and 0.042 through t = 2, where the most amplified circuit has 2400 two-qubit gates. Same picture at h/J = 2 (0.005–0.060).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98173" y="2042292"/>
            <a:ext cx="7378013" cy="83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9"/>
              </a:lnSpc>
            </a:pPr>
            <a:r>
              <a:rPr lang="en-US" sz="3924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Exponential ZNE Stays Accurate Where Linear ZNE Breaks Down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382375" y="7124700"/>
            <a:ext cx="457200" cy="495300"/>
            <a:chOff x="0" y="0"/>
            <a:chExt cx="609600" cy="66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" cy="660400"/>
            </a:xfrm>
            <a:custGeom>
              <a:avLst/>
              <a:gdLst/>
              <a:ahLst/>
              <a:cxnLst/>
              <a:rect r="r" b="b" t="t" l="l"/>
              <a:pathLst>
                <a:path h="660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EB683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96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96725" y="7315200"/>
            <a:ext cx="457200" cy="304800"/>
            <a:chOff x="0" y="0"/>
            <a:chExt cx="6096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406400"/>
            </a:xfrm>
            <a:custGeom>
              <a:avLst/>
              <a:gdLst/>
              <a:ahLst/>
              <a:cxnLst/>
              <a:rect r="r" b="b" t="t" l="l"/>
              <a:pathLst>
                <a:path h="406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96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525375" y="6200775"/>
            <a:ext cx="457200" cy="1419225"/>
            <a:chOff x="0" y="0"/>
            <a:chExt cx="609600" cy="1892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" cy="1892300"/>
            </a:xfrm>
            <a:custGeom>
              <a:avLst/>
              <a:gdLst/>
              <a:ahLst/>
              <a:cxnLst/>
              <a:rect r="r" b="b" t="t" l="l"/>
              <a:pathLst>
                <a:path h="18923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892300"/>
                  </a:lnTo>
                  <a:lnTo>
                    <a:pt x="0" y="1892300"/>
                  </a:lnTo>
                  <a:close/>
                </a:path>
              </a:pathLst>
            </a:custGeom>
            <a:solidFill>
              <a:srgbClr val="EB683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09600" cy="193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39725" y="7219950"/>
            <a:ext cx="457200" cy="400050"/>
            <a:chOff x="0" y="0"/>
            <a:chExt cx="6096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600" cy="533400"/>
            </a:xfrm>
            <a:custGeom>
              <a:avLst/>
              <a:gdLst/>
              <a:ahLst/>
              <a:cxnLst/>
              <a:rect r="r" b="b" t="t" l="l"/>
              <a:pathLst>
                <a:path h="533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096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668375" y="5476875"/>
            <a:ext cx="457200" cy="2143125"/>
            <a:chOff x="0" y="0"/>
            <a:chExt cx="609600" cy="285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857500"/>
                  </a:lnTo>
                  <a:lnTo>
                    <a:pt x="0" y="2857500"/>
                  </a:lnTo>
                  <a:close/>
                </a:path>
              </a:pathLst>
            </a:custGeom>
            <a:solidFill>
              <a:srgbClr val="EB683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09600" cy="28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182725" y="7000875"/>
            <a:ext cx="457200" cy="619125"/>
            <a:chOff x="0" y="0"/>
            <a:chExt cx="609600" cy="825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" cy="825500"/>
            </a:xfrm>
            <a:custGeom>
              <a:avLst/>
              <a:gdLst/>
              <a:ahLst/>
              <a:cxnLst/>
              <a:rect r="r" b="b" t="t" l="l"/>
              <a:pathLst>
                <a:path h="8255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825500"/>
                  </a:lnTo>
                  <a:lnTo>
                    <a:pt x="0" y="8255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9600" cy="86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811375" y="4762500"/>
            <a:ext cx="457200" cy="2857500"/>
            <a:chOff x="0" y="0"/>
            <a:chExt cx="609600" cy="381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B683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96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325725" y="7258050"/>
            <a:ext cx="457200" cy="361950"/>
            <a:chOff x="0" y="0"/>
            <a:chExt cx="609600" cy="482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600" cy="482600"/>
            </a:xfrm>
            <a:custGeom>
              <a:avLst/>
              <a:gdLst/>
              <a:ahLst/>
              <a:cxnLst/>
              <a:rect r="r" b="b" t="t" l="l"/>
              <a:pathLst>
                <a:path h="482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2A78D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096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239500" y="7620000"/>
            <a:ext cx="4667250" cy="28575"/>
            <a:chOff x="0" y="0"/>
            <a:chExt cx="6223000" cy="38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23000" cy="38100"/>
            </a:xfrm>
            <a:custGeom>
              <a:avLst/>
              <a:gdLst/>
              <a:ahLst/>
              <a:cxnLst/>
              <a:rect r="r" b="b" t="t" l="l"/>
              <a:pathLst>
                <a:path h="38100" w="6223000">
                  <a:moveTo>
                    <a:pt x="0" y="0"/>
                  </a:moveTo>
                  <a:lnTo>
                    <a:pt x="6223000" y="0"/>
                  </a:lnTo>
                  <a:lnTo>
                    <a:pt x="6223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344C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223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334750" y="7677150"/>
            <a:ext cx="10668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t = 0.5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77750" y="7677150"/>
            <a:ext cx="10668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t = 1.0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620750" y="7677150"/>
            <a:ext cx="10668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t = 1.5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763750" y="7677150"/>
            <a:ext cx="10668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1E344C"/>
                </a:solidFill>
                <a:latin typeface="Arimo"/>
                <a:ea typeface="Arimo"/>
                <a:cs typeface="Arimo"/>
                <a:sym typeface="Arimo"/>
              </a:rPr>
              <a:t>t = 2.0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34750" y="4133850"/>
            <a:ext cx="33337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EB6834"/>
                </a:solidFill>
                <a:latin typeface="Arimo Bold"/>
                <a:ea typeface="Arimo Bold"/>
                <a:cs typeface="Arimo Bold"/>
                <a:sym typeface="Arimo Bold"/>
              </a:rPr>
              <a:t>Linear ZNE (previous method)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34750" y="4457700"/>
            <a:ext cx="33337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A78D6"/>
                </a:solidFill>
                <a:latin typeface="Arimo Bold"/>
                <a:ea typeface="Arimo Bold"/>
                <a:cs typeface="Arimo Bold"/>
                <a:sym typeface="Arimo Bold"/>
              </a:rPr>
              <a:t>Exponential ZNE (ours)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953750" y="3705225"/>
            <a:ext cx="5334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2514E"/>
                </a:solidFill>
                <a:latin typeface="Arimo"/>
                <a:ea typeface="Arimo"/>
                <a:cs typeface="Arimo"/>
                <a:sym typeface="Arimo"/>
              </a:rPr>
              <a:t>Mean error vs time, h/J = 1 (lower is better)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09240" y="3409534"/>
            <a:ext cx="13269519" cy="392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1. Reproducible: two runs a day apart give the same 0.03 error. The device drifts by about 0.01 between runs, so we report that as an extra uncertainty.</a:t>
            </a:r>
          </a:p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2. The model fits: with five noise levels, the exponential curve passes a goodness-of-fit test at 19 of 24 points.</a:t>
            </a:r>
          </a:p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3. Remaining error is hardware noise, not our algorithm: at h/J = 2 the noiseless Trotter circuit is within 0.011 of exact. Linear ZNE, by contrast, has small error bars but sits 7–45 standard deviations from exact at t ≥ 1.5: precise but wrong.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65216" y="2050984"/>
            <a:ext cx="10757568" cy="594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0"/>
              </a:lnSpc>
            </a:pPr>
            <a:r>
              <a:rPr lang="en-US" sz="5138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Is It Real? Three Checks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157370" y="4366820"/>
            <a:ext cx="9973260" cy="212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1"/>
              </a:lnSpc>
              <a:spcBef>
                <a:spcPct val="0"/>
              </a:spcBef>
            </a:pPr>
            <a:r>
              <a:rPr lang="en-US" sz="245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QPU time billed by IBM Quantum on ibm_quebec:</a:t>
            </a:r>
          </a:p>
          <a:p>
            <a:pPr algn="ctr" marL="0" indent="0" lvl="0">
              <a:lnSpc>
                <a:spcPts val="3431"/>
              </a:lnSpc>
              <a:spcBef>
                <a:spcPct val="0"/>
              </a:spcBef>
            </a:pPr>
            <a:r>
              <a:rPr lang="en-US" sz="245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3 noise levels, 12 circuits × 4000 shots: 39 seconds</a:t>
            </a:r>
          </a:p>
          <a:p>
            <a:pPr algn="ctr" marL="0" indent="0" lvl="0">
              <a:lnSpc>
                <a:spcPts val="3431"/>
              </a:lnSpc>
              <a:spcBef>
                <a:spcPct val="0"/>
              </a:spcBef>
            </a:pPr>
            <a:r>
              <a:rPr lang="en-US" sz="245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• 5 noise levels, 20 circuits × 4000 shots: 58 seconds</a:t>
            </a:r>
          </a:p>
          <a:p>
            <a:pPr algn="ctr" marL="0" indent="0" lvl="0">
              <a:lnSpc>
                <a:spcPts val="3431"/>
              </a:lnSpc>
              <a:spcBef>
                <a:spcPct val="0"/>
              </a:spcBef>
            </a:pPr>
            <a:r>
              <a:rPr lang="en-US" sz="2451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That is about 10–15 seconds per time point, for a 3.8–5× error reduction on circuits with up to 2400 two-qubit gates.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65216" y="2070034"/>
            <a:ext cx="10757568" cy="115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3"/>
              </a:lnSpc>
            </a:pPr>
            <a:r>
              <a:rPr lang="en-US" sz="5391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~1 Minute of Quantum Computer Time Per Experiment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929826" y="4357295"/>
            <a:ext cx="10428348" cy="286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Limitations: a floor of about 0.02–0.03 remains from noise that gate folding does not amplify (single-qubit gates, idling, readout residue); the exponential model fails its fit test at 5 of 24 points; one device, 12 spins, 4 time points; no quantum advantage is claimed.</a:t>
            </a:r>
          </a:p>
          <a:p>
            <a:pPr algn="ctr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Next: fold single-qubit gates too; multi-product formulas for lower Trotter error at equal depth; measure Iceberg error detection's SWAP cost on heavy-hex; larger rings (20 and 28 qubits are also native cycles).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81322" y="2210561"/>
            <a:ext cx="9325355" cy="73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47"/>
              </a:lnSpc>
            </a:pPr>
            <a:r>
              <a:rPr lang="en-US" sz="6434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Limitations &amp; Next Steps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45705" cy="238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668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34831" y="4105472"/>
            <a:ext cx="9818338" cy="292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27"/>
              </a:lnSpc>
              <a:spcBef>
                <a:spcPct val="0"/>
              </a:spcBef>
            </a:pPr>
            <a:r>
              <a:rPr lang="en-US" sz="2377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On a real IBM quantum computer, a 12-spin Ising ring mapped with zero SWAPs plus exponential zero-noise extrapolation cut the error 3.8–5× (0.134 → 0.030), in three independent runs at two field strengths, for about one minute of QPU time per experiment. The previous project's linear method removed only 17–26% of the error on the same circuits. Careful mitigation, validated against exact results, makes near-term hardware useful for quantum materials simulation.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65216" y="2212909"/>
            <a:ext cx="10757568" cy="103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8"/>
              </a:lnSpc>
            </a:pPr>
            <a:r>
              <a:rPr lang="en-US" sz="9036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10800000">
            <a:off x="15965137" y="8412436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2281014" y="-2716014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86000" y="2362200"/>
            <a:ext cx="13716000" cy="439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[1] Quantum in Silico, Quantathon CR 2026 Challenge 3, technical report (previous project)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[2] K. Temme, S. Bravyi, J. M. Gambetta, Phys. Rev. Lett. 119, 180509 (2017): zero-noise extrapolation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[3] S. Endo, S. C. Benjamin, Y. Li, Phys. Rev. X 8, 031027 (2018): exponential extrapolation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[4] T. Giurgica-Tiron et al., IEEE QCE 2020, arXiv:2005.10921: digital gate folding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[5] E. van den Berg, Z. K. Minev, K. Temme, Phys. Rev. A 105, 032620 (2022): TREX readout mitigation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[6] J. J. Wallman, J. Emerson, Phys. Rev. A 94, 052325 (2016): Pauli twirling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[7] L. Viola, S. Lloyd, Phys. Rev. A 58, 2733 (1998): dynamical decoupling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[8] C. Chamberland et al., Phys. Rev. X 10, 011022 (2020): heavy-hex lattice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[9] Y. Kim et al., Nature 618, 500 (2023): utility before fault tolerance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[10] P. Pfeuty, Ann. Phys. 57, 79 (1970): transverse-field Ising model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[11] M. Suzuki, Commun. Math. Phys. 51, 183 (1976): Trotter–Suzuki formulas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[12] C. N. Self, M. Benedetti, D. Amaro, Nature Physics (2024), arXiv:2211.06703: Iceberg code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[13] A. Javadi-Abhari et al., arXiv:2405.08810 (2024): Qiskit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Thank you — Team UO-Qubit (David, Boutaina, Ririsha, Eli, Toto) · uOttawa Qiskit Fall Fest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2200" y="1123950"/>
            <a:ext cx="13558576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90"/>
              </a:lnSpc>
            </a:pPr>
            <a:r>
              <a:rPr lang="en-US" sz="6750">
                <a:solidFill>
                  <a:srgbClr val="1E344C"/>
                </a:solidFill>
                <a:latin typeface="Lato"/>
                <a:ea typeface="Lato"/>
                <a:cs typeface="Lato"/>
                <a:sym typeface="Lato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DAHXS-oNyuo</dc:identifier>
  <dcterms:modified xsi:type="dcterms:W3CDTF">2011-08-01T06:04:30Z</dcterms:modified>
  <cp:revision>1</cp:revision>
  <dc:title>UO-Qubit ZNE Results</dc:title>
</cp:coreProperties>
</file>